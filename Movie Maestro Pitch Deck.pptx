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Poppi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7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10" Type="http://schemas.openxmlformats.org/officeDocument/2006/relationships/image" Target="../media/image15.png"/><Relationship Id="rId9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11" Type="http://schemas.openxmlformats.org/officeDocument/2006/relationships/image" Target="../media/image23.png"/><Relationship Id="rId10" Type="http://schemas.openxmlformats.org/officeDocument/2006/relationships/image" Target="../media/image53.png"/><Relationship Id="rId12" Type="http://schemas.openxmlformats.org/officeDocument/2006/relationships/image" Target="../media/image16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6.png"/><Relationship Id="rId13" Type="http://schemas.openxmlformats.org/officeDocument/2006/relationships/image" Target="../media/image32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5" Type="http://schemas.openxmlformats.org/officeDocument/2006/relationships/image" Target="../media/image27.png"/><Relationship Id="rId14" Type="http://schemas.openxmlformats.org/officeDocument/2006/relationships/image" Target="../media/image33.png"/><Relationship Id="rId17" Type="http://schemas.openxmlformats.org/officeDocument/2006/relationships/image" Target="../media/image30.png"/><Relationship Id="rId16" Type="http://schemas.openxmlformats.org/officeDocument/2006/relationships/image" Target="../media/image38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18" Type="http://schemas.openxmlformats.org/officeDocument/2006/relationships/image" Target="../media/image34.png"/><Relationship Id="rId7" Type="http://schemas.openxmlformats.org/officeDocument/2006/relationships/image" Target="../media/image25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44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5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7.png"/><Relationship Id="rId7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3350" y="3735734"/>
            <a:ext cx="43053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1712" y="2259359"/>
            <a:ext cx="19145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1987" y="2259359"/>
            <a:ext cx="20669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4662" y="2259359"/>
            <a:ext cx="30956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28962" y="5335934"/>
            <a:ext cx="2733675" cy="1101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43637" y="5335934"/>
            <a:ext cx="2819400" cy="110103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820590" y="421034"/>
            <a:ext cx="655081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MOVIE MAESTRO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881312" y="1325909"/>
            <a:ext cx="6429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viewing data to personalized decisions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10275" y="331663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10275" y="4916834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750" y="2400300"/>
            <a:ext cx="70485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1750" y="3600450"/>
            <a:ext cx="70485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2212" y="1295400"/>
            <a:ext cx="20955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8712" y="1295400"/>
            <a:ext cx="20955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5212" y="1295400"/>
            <a:ext cx="23145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71862" y="4800600"/>
            <a:ext cx="2581275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4637" y="4800600"/>
            <a:ext cx="209550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81025" y="6286500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• Pandas • NumPy • Jupyter • Matplotlib • Seaborn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10275" y="31813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57575" y="20764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10275" y="20764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62975" y="20764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/>
          <p:nvPr/>
        </p:nvSpPr>
        <p:spPr>
          <a:xfrm>
            <a:off x="4200525" y="4286250"/>
            <a:ext cx="3790950" cy="190500"/>
          </a:xfrm>
          <a:prstGeom prst="rect">
            <a:avLst/>
          </a:prstGeom>
          <a:noFill/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43375" y="442912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905750" y="4429125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581025" y="342900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DATA PIPELINE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65759"/>
            <a:ext cx="5229225" cy="327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33562"/>
            <a:ext cx="52292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00337"/>
            <a:ext cx="52292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67112"/>
            <a:ext cx="52292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33887"/>
            <a:ext cx="52292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300662"/>
            <a:ext cx="52292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9600" y="1985962"/>
            <a:ext cx="10953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9600" y="2852737"/>
            <a:ext cx="10953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1525" y="3719512"/>
            <a:ext cx="9334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1525" y="4586287"/>
            <a:ext cx="9334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9600" y="5453062"/>
            <a:ext cx="109537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200150" y="2047875"/>
            <a:ext cx="685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1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086100" y="20955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200150" y="2914650"/>
            <a:ext cx="7334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2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09912" y="296227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200150" y="3781425"/>
            <a:ext cx="7334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3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90875" y="38290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1200150" y="4648200"/>
            <a:ext cx="742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4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95637" y="469582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200150" y="5514975"/>
            <a:ext cx="723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5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05150" y="55626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33555" y="2656284"/>
            <a:ext cx="2525464" cy="24979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76300" y="206692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6300" y="293370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6300" y="380047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76300" y="46672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76300" y="553402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One user ≠ another user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05000"/>
            <a:ext cx="522922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000500"/>
            <a:ext cx="2519362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1612" y="4000500"/>
            <a:ext cx="2519362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3409950"/>
            <a:ext cx="521017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5505450"/>
            <a:ext cx="2500312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01137" y="5505450"/>
            <a:ext cx="2500312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771525" y="5208389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"These signals can support content promotion, discovery and engagement strategies."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81025" y="5208389"/>
            <a:ext cx="19050" cy="670321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581025" y="1931789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12,407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81025" y="2589014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viewing events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334148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219200" y="3351014"/>
            <a:ext cx="4267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Drama: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2,624 views (Highest Engagement)</a:t>
            </a:r>
            <a:endParaRPr/>
          </a:p>
        </p:txBody>
      </p:sp>
      <p:pic>
        <p:nvPicPr>
          <p:cNvPr descr="image.png" id="163" name="Google Shape;16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27493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219200" y="4284464"/>
            <a:ext cx="36290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Sci-Fi: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424 distinct user preferences</a:t>
            </a:r>
            <a:endParaRPr/>
          </a:p>
        </p:txBody>
      </p:sp>
      <p:pic>
        <p:nvPicPr>
          <p:cNvPr descr="image.png" id="165" name="Google Shape;16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91275" y="1914525"/>
            <a:ext cx="521017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91275" y="4010025"/>
            <a:ext cx="2500312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01137" y="4010025"/>
            <a:ext cx="2500312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data → business decisions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81000"/>
            <a:ext cx="7620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2390775"/>
            <a:ext cx="7620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0" y="4400550"/>
            <a:ext cx="762000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1719262" y="6143625"/>
            <a:ext cx="919114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"Movie Maestro turns viewing data into decisions."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6462" y="1914525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6462" y="3924300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2676525" y="676275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FOR USERS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2676525" y="1057275"/>
            <a:ext cx="6838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Better discovery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2676525" y="2686050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FOR THE BUSINESS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2676525" y="3067050"/>
            <a:ext cx="6838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Better decisions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2676525" y="4724400"/>
            <a:ext cx="683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FOR THE PLATFORM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2676525" y="5105400"/>
            <a:ext cx="68389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More relevant content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r>
              <a:rPr b="0" i="0" lang="en-US" sz="24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deeper understanding of users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581025" y="219551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581025" y="296703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1025" y="3738562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81025" y="29575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81025" y="29575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81025" y="37290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81025" y="37290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81025" y="46720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81025" y="46720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38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676400" y="234553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https://slidebazaar.com/wp-content/uploads/2026/05/business-intelligence-dashboard-template.jpg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676400" y="257889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slidebazaar.com</a:t>
            </a:r>
            <a:endParaRPr/>
          </a:p>
        </p:txBody>
      </p:sp>
      <p:pic>
        <p:nvPicPr>
          <p:cNvPr descr="image.png" id="202" name="Google Shape;2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09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1676400" y="311705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https://slidebazaar.com/wp-content/uploads/2022/11/Heat-Map-Infographic-Template-Dark-jpg-webp.webp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676400" y="335041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slidebazaar.com</a:t>
            </a:r>
            <a:endParaRPr/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7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1676400" y="3881437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https://img.magnific.com/premium-vector/dark-mode-business-analytics-dashboard-user-interface-showing-data-metrics-charts-recent-alerts_1383642-15982.jpg?semt=ais_test_b&amp;w=740&amp;q=80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1676400" y="430053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www.magnific.com</a:t>
            </a:r>
            <a:endParaRPr/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910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1676400" y="4824412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https://static.vecteezy.com/system/resources/thumbnails/082/919/390/small/abstract-blue-digital-data-wave-technology-background-with-glowing-nodes-and-plexus-lines-free-vector.jpg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676400" y="5243512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